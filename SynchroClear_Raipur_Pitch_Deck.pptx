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RAIPUR POLICE COMMISSIONERATE HACKATHON 2026 | PROJECT SYNCHROCLEAR-ITS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Stop-Line Cognitive Dissonance: The Fatal Bottleneck in Indian Traffic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30352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THE REAL-WORLD TRAGEDY ON INDIAN ROADS</a:t>
            </a:r>
          </a:p>
          <a:p>
            <a:pPr>
              <a:defRPr sz="1100"/>
            </a:pPr>
            <a:r>
              <a:rPr b="1">
                <a:solidFill>
                  <a:srgbClr val="F8FAFC"/>
                </a:solidFill>
              </a:rPr>
              <a:t>• Visual Queue Cutoff: </a:t>
            </a:r>
            <a:r>
              <a:rPr>
                <a:solidFill>
                  <a:srgbClr val="94A3B8"/>
                </a:solidFill>
              </a:rPr>
              <a:t>Constable waves a baton, but drivers 20m back cannot see him over trucks and SUVs.</a:t>
            </a:r>
          </a:p>
          <a:p>
            <a:pPr>
              <a:defRPr sz="1100"/>
            </a:pPr>
            <a:r>
              <a:rPr b="1">
                <a:solidFill>
                  <a:srgbClr val="F8FAFC"/>
                </a:solidFill>
              </a:rPr>
              <a:t>• Automated Challan Fear: </a:t>
            </a:r>
            <a:r>
              <a:rPr>
                <a:solidFill>
                  <a:srgbClr val="94A3B8"/>
                </a:solidFill>
              </a:rPr>
              <a:t>Front-row motorists refuse to jump the red line fearing automated Rs 1,000-5,000 e-challans from Smart City ITMS cameras.</a:t>
            </a:r>
          </a:p>
          <a:p>
            <a:pPr>
              <a:defRPr sz="1100"/>
            </a:pPr>
            <a:r>
              <a:rPr b="1">
                <a:solidFill>
                  <a:srgbClr val="F8FAFC"/>
                </a:solidFill>
              </a:rPr>
              <a:t>• Blind T-Bone Collision Risk: </a:t>
            </a:r>
            <a:r>
              <a:rPr>
                <a:solidFill>
                  <a:srgbClr val="94A3B8"/>
                </a:solidFill>
              </a:rPr>
              <a:t>Motorists will not cross into 50 km/h cross-traffic without a physical overhead Green signal.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5303520" cy="2468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200" b="1">
                <a:solidFill>
                  <a:srgbClr val="06B6D4"/>
                </a:solidFill>
              </a:defRPr>
            </a:pPr>
            <a:r>
              <a:t>HARD FIELD EVIDENCE &amp; IMPACT ON RAIPUR</a:t>
            </a:r>
          </a:p>
          <a:p>
            <a:pPr>
              <a:defRPr sz="1100"/>
            </a:pPr>
            <a:r>
              <a:rPr b="1">
                <a:solidFill>
                  <a:srgbClr val="F8FAFC"/>
                </a:solidFill>
              </a:rPr>
              <a:t>• 68 Seconds Lost: </a:t>
            </a:r>
            <a:r>
              <a:rPr>
                <a:solidFill>
                  <a:srgbClr val="94A3B8"/>
                </a:solidFill>
              </a:rPr>
              <a:t>Average trapped ambulance delay per congested junction during peak hours.</a:t>
            </a:r>
          </a:p>
          <a:p>
            <a:pPr>
              <a:defRPr sz="1100"/>
            </a:pPr>
            <a:r>
              <a:rPr b="1">
                <a:solidFill>
                  <a:srgbClr val="F8FAFC"/>
                </a:solidFill>
              </a:rPr>
              <a:t>• 92% Driver Freezes: </a:t>
            </a:r>
            <a:r>
              <a:rPr>
                <a:solidFill>
                  <a:srgbClr val="94A3B8"/>
                </a:solidFill>
              </a:rPr>
              <a:t>Motorists refuse to yield unless overhead lights physically switch to green.</a:t>
            </a:r>
          </a:p>
          <a:p>
            <a:pPr>
              <a:defRPr sz="1100"/>
            </a:pPr>
            <a:r>
              <a:rPr b="1">
                <a:solidFill>
                  <a:srgbClr val="F8FAFC"/>
                </a:solidFill>
              </a:rPr>
              <a:t>• Mekahara Hospital Corridor: </a:t>
            </a:r>
            <a:r>
              <a:rPr>
                <a:solidFill>
                  <a:srgbClr val="94A3B8"/>
                </a:solidFill>
              </a:rPr>
              <a:t>Great Eastern Road ambulances lose vital Golden-Hour minutes between Jaistambh and Ghadi Chowk.</a:t>
            </a:r>
          </a:p>
        </p:txBody>
      </p:sp>
      <p:pic>
        <p:nvPicPr>
          <p:cNvPr id="7" name="Picture 6" descr="raipur_corridor_3d_r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0"/>
            <a:ext cx="512064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TECHNICAL ARCHITECTURE &amp; SENSOR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End-to-End System Architecture: Sub-GHz Handheld + Edge-AI + Cabinet RTU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1460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1. GROUND LAYER</a:t>
            </a:r>
          </a:p>
          <a:p>
            <a:pPr>
              <a:spcAft>
                <a:spcPts val="1000"/>
              </a:spcAft>
              <a:defRPr sz="1300" b="1">
                <a:solidFill>
                  <a:srgbClr val="F8FAFC"/>
                </a:solidFill>
              </a:defRPr>
            </a:pPr>
            <a:r>
              <a:t>Officer Handheld Remote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• Hardware: Nordic nRF / Semtech SX1262 Sub-GHz transceiver.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• Carrier: 868 MHz license-free Indian industrial band.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• Penetration: Cuts through metal bus chassis and heavy queues.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• Latency: 42 ms instant trigger response.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• Security: Rolling HMAC-SHA256 frame with anti-replay counter.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65576" y="1371600"/>
            <a:ext cx="251460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2. CABINET RTU</a:t>
            </a:r>
          </a:p>
          <a:p>
            <a:pPr>
              <a:spcAft>
                <a:spcPts val="1000"/>
              </a:spcAft>
              <a:defRPr sz="1300" b="1">
                <a:solidFill>
                  <a:srgbClr val="F8FAFC"/>
                </a:solidFill>
              </a:defRPr>
            </a:pPr>
            <a:r>
              <a:t>Industrial Traffic Controller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• Hardware: STM32F4 / H7 MCU with dual hardware watchdogs.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• Safety Matrix: Mechanically interlocked Form-C dry-contact relays.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• Deterministic State: Executes mandatory 5.5s inter-green clearance.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• Climate Ready: -40°C to +85°C rated for 47°C Raipur heatwaves.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• Zero Civil Works: 45-min plug-and-play wiring harness.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371600"/>
            <a:ext cx="251460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3. EDGE-AI VISION</a:t>
            </a:r>
          </a:p>
          <a:p>
            <a:pPr>
              <a:spcAft>
                <a:spcPts val="1000"/>
              </a:spcAft>
              <a:defRPr sz="1300" b="1">
                <a:solidFill>
                  <a:srgbClr val="F8FAFC"/>
                </a:solidFill>
              </a:defRPr>
            </a:pPr>
            <a:r>
              <a:t>Junction CCTV Pipeline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• Video Input: Existing Smart City 1080p RTSP IP cameras.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• Detection: Quantized YOLOv8n running at 33 ms/frame (30 FPS).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• Strobe Verifier: Temporal FFT (1.0-2.5 Hz) validates real beacons.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• ANPR Engine: High-speed OCR captures CG04 license plates in 180 ms.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• Audit Trail: SHA-256 hash-chained JSON logs prevent abuse.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33688" y="1371600"/>
            <a:ext cx="251460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t>4. COMMAND ICCC</a:t>
            </a:r>
          </a:p>
          <a:p>
            <a:pPr>
              <a:spcAft>
                <a:spcPts val="1000"/>
              </a:spcAft>
              <a:defRPr sz="1300" b="1">
                <a:solidFill>
                  <a:srgbClr val="F8FAFC"/>
                </a:solidFill>
              </a:defRPr>
            </a:pPr>
            <a:r>
              <a:t>Raipur Police Cloud Sync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• Broker: Secure MQTT over TLS 1.3 (Port 8883).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• Challan Whitelist: Auto-syncs time window with NIC e-Challan server.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• Citizen Protection: Good Samaritans crossing red are automatically exempted.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• Telemetry: Real-time corridor heatmaps for Commissionerate.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• Paperless: Zero manual challan dispute visits for citizens.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SAFETY-CRITICAL TRAFFIC CONTROLLER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Fail-Safe State Machine: Zero Collision Hazard via Deterministic Clearance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621792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DETERMINISTIC INTER-GREEN CLEARANCE PHASES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Phase 0: Emergency Trigger (T = 0.0s)
</a:t>
            </a:r>
            <a:r>
              <a:rPr sz="950">
                <a:solidFill>
                  <a:srgbClr val="94A3B8"/>
                </a:solidFill>
              </a:rPr>
              <a:t>Constable RF toggle or AI detection initiates preemption. Moving lane remains Green.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Phase 1: Amber Alert (T = 0.0s to 3.5s)
</a:t>
            </a:r>
            <a:r>
              <a:rPr sz="950">
                <a:solidFill>
                  <a:srgbClr val="94A3B8"/>
                </a:solidFill>
              </a:rPr>
              <a:t>Active crossing lane switches to Yellow (3.5s). Allows high-speed vehicles to safely brake without rear-end collisions.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Phase 2: All-Red Inter-Green (T = 3.5s to 5.5s)
</a:t>
            </a:r>
            <a:r>
              <a:rPr sz="950">
                <a:solidFill>
                  <a:srgbClr val="94A3B8"/>
                </a:solidFill>
              </a:rPr>
              <a:t>Entire junction held at Red (2.0s). Box clears completely. Zero cross-traffic moving.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Phase 3: Priority Emergency Green (T = 5.5s to 25.0s)
</a:t>
            </a:r>
            <a:r>
              <a:rPr sz="950">
                <a:solidFill>
                  <a:srgbClr val="94A3B8"/>
                </a:solidFill>
              </a:rPr>
              <a:t>Trapped lane switches physical Green. Ambulance &amp; yielding motorists clear stop line safely.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Phase 4: Recovery Yellow &amp; All-Red (T = 25.0s to 30.0s)
</a:t>
            </a:r>
            <a:r>
              <a:rPr sz="950">
                <a:solidFill>
                  <a:srgbClr val="94A3B8"/>
                </a:solidFill>
              </a:rPr>
              <a:t>3.5s Yellow recovery + 1.5s All-Red before safely returning to normal round-robin cycle.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371600"/>
            <a:ext cx="429768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HARDWARE-ENFORCED SAFETY GUARANTEES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34D399"/>
                </a:solidFill>
              </a:rPr>
              <a:t>✓ Mechanical Relay Interlocks: </a:t>
            </a:r>
            <a:r>
              <a:rPr sz="950">
                <a:solidFill>
                  <a:srgbClr val="94A3B8"/>
                </a:solidFill>
              </a:rPr>
              <a:t>Omron Form-C relays wired in series-break configuration physically make it impossible for two conflicting lanes to get power simultaneously.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34D399"/>
                </a:solidFill>
              </a:rPr>
              <a:t>✓ Independent Watchdog (IWDG): </a:t>
            </a:r>
            <a:r>
              <a:rPr sz="950">
                <a:solidFill>
                  <a:srgbClr val="94A3B8"/>
                </a:solidFill>
              </a:rPr>
              <a:t>Dual-clock supervisor forces default failsafe fallback within 400ms if MCU hangs.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34D399"/>
                </a:solidFill>
              </a:rPr>
              <a:t>✓ Preemption Ceiling Guard: </a:t>
            </a:r>
            <a:r>
              <a:rPr sz="950">
                <a:solidFill>
                  <a:srgbClr val="94A3B8"/>
                </a:solidFill>
              </a:rPr>
              <a:t>Hardcoded 30-second ceiling timer prevents corridor abuse or accidental endless green light.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34D399"/>
                </a:solidFill>
              </a:rPr>
              <a:t>✓ IRC:SP:12 Compliance: </a:t>
            </a:r>
            <a:r>
              <a:rPr sz="950">
                <a:solidFill>
                  <a:srgbClr val="94A3B8"/>
                </a:solidFill>
              </a:rPr>
              <a:t>Meets and exceeds Indian Road Congress intersection safety clearance mandates.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EDGE COMPUTING &amp; NIC E-CHALLAN REVENUE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AI Computer Vision &amp; Smart Whitelisting: Eliminating Citizen Challan Anxiety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EDGE COMPUTER VISION PIPELINE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• Lightweight YOLOv8n / YOLOv11n: </a:t>
            </a:r>
            <a:r>
              <a:rPr sz="950">
                <a:solidFill>
                  <a:srgbClr val="94A3B8"/>
                </a:solidFill>
              </a:rPr>
              <a:t>Trained on Indian ambulances, police vehicles, and fire engines. Executes at 33ms (30+ FPS) on Nvidia Jetson Orin Nano / IPC.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• Optical Strobe Frequency Analysis: </a:t>
            </a:r>
            <a:r>
              <a:rPr sz="950">
                <a:solidFill>
                  <a:srgbClr val="94A3B8"/>
                </a:solidFill>
              </a:rPr>
              <a:t>Examines vehicle rooftop ROI for 1.0 to 2.5 Hz flashing light signatures. Rejects fake painted private vans.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• Real-Time Indian ANPR: </a:t>
            </a:r>
            <a:r>
              <a:rPr sz="950">
                <a:solidFill>
                  <a:srgbClr val="94A3B8"/>
                </a:solidFill>
              </a:rPr>
              <a:t>High-contrast OCR reads Indian High Security Registration Plates (HSRP) including CG04 series in 180 ms.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8FAFC"/>
                </a:solidFill>
              </a:rPr>
              <a:t>• Density Telemetry: </a:t>
            </a:r>
            <a:r>
              <a:rPr sz="950">
                <a:solidFill>
                  <a:srgbClr val="94A3B8"/>
                </a:solidFill>
              </a:rPr>
              <a:t>Calculates background lane vehicle count to dynamically fine-tune priority green duration.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371600"/>
            <a:ext cx="530352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SMART GOOD SAMARITAN WHITELISTING ENGINE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34D399"/>
                </a:solidFill>
              </a:rPr>
              <a:t>★ The Citizen's Dilemma: </a:t>
            </a:r>
            <a:r>
              <a:rPr sz="950">
                <a:solidFill>
                  <a:srgbClr val="94A3B8"/>
                </a:solidFill>
              </a:rPr>
              <a:t>Motorists crossing red to yield currently get penalised by automated ITMS challans, creating reluctance to give way.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34D399"/>
                </a:solidFill>
              </a:rPr>
              <a:t>★ Automated Exemption Window: </a:t>
            </a:r>
            <a:r>
              <a:rPr sz="950">
                <a:solidFill>
                  <a:srgbClr val="94A3B8"/>
                </a:solidFill>
              </a:rPr>
              <a:t>When preemption activates, an active exemption buffer (T_preempt - 10s to T_clear + 10s) opens for the emergency corridor.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34D399"/>
                </a:solidFill>
              </a:rPr>
              <a:t>★ Synchronized Plate Whitelisting: </a:t>
            </a:r>
            <a:r>
              <a:rPr sz="950">
                <a:solidFill>
                  <a:srgbClr val="94A3B8"/>
                </a:solidFill>
              </a:rPr>
              <a:t>All vehicles crossing the stop line during this window are recorded in the MQTT audit log.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34D399"/>
                </a:solidFill>
              </a:rPr>
              <a:t>★ NIC e-Challan API Push: </a:t>
            </a:r>
            <a:r>
              <a:rPr sz="950">
                <a:solidFill>
                  <a:srgbClr val="94A3B8"/>
                </a:solidFill>
              </a:rPr>
              <a:t>Log automatically suppresses red-light violation challan issuance for those timestamps on that corridor.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34D399"/>
                </a:solidFill>
              </a:rPr>
              <a:t>★ Social Impact: </a:t>
            </a:r>
            <a:r>
              <a:rPr sz="950">
                <a:solidFill>
                  <a:srgbClr val="94A3B8"/>
                </a:solidFill>
              </a:rPr>
              <a:t>Transforms public perception. Citizens yield immediately knowing the law protects their compassion.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AUTOMOTIVE RELIABILITY &amp; BILL OF MATERIALS (&lt; RS 12,000)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Industrial Hardware Viability: STM32 &amp; Sub-GHz vs Fragile Hobbyist ESP32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640080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200"/>
              </a:spcAft>
              <a:defRPr sz="1300" b="1">
                <a:solidFill>
                  <a:srgbClr val="06B6D4"/>
                </a:solidFill>
              </a:defRPr>
            </a:pPr>
            <a:r>
              <a:t>ENGINEERING COMPARISON: HOBBYIST VS INDUSTRIAL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8FAFC"/>
                </a:solidFill>
              </a:rPr>
              <a:t>RF Band &amp; Penetration
</a:t>
            </a:r>
            <a:r>
              <a:rPr sz="950">
                <a:solidFill>
                  <a:srgbClr val="EF4444"/>
                </a:solidFill>
              </a:rPr>
              <a:t>  ✕ ESP32: 2.4 GHz Wi-Fi / BLE (Severe absorption by bus chassis)
</a:t>
            </a:r>
            <a:r>
              <a:rPr sz="950">
                <a:solidFill>
                  <a:srgbClr val="10B981"/>
                </a:solidFill>
              </a:rPr>
              <a:t>  ✓ SynchroClear: 868 MHz Sub-GHz (+14 dB link budget advantage)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8FAFC"/>
                </a:solidFill>
              </a:rPr>
              <a:t>Thermal Operating Limit
</a:t>
            </a:r>
            <a:r>
              <a:rPr sz="950">
                <a:solidFill>
                  <a:srgbClr val="EF4444"/>
                </a:solidFill>
              </a:rPr>
              <a:t>  ✕ ESP32: 0°C to +70°C (Freezes in 47°C Raipur summers)
</a:t>
            </a:r>
            <a:r>
              <a:rPr sz="950">
                <a:solidFill>
                  <a:srgbClr val="10B981"/>
                </a:solidFill>
              </a:rPr>
              <a:t>  ✓ SynchroClear: -40°C to +85°C Automotive / Industrial Grade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8FAFC"/>
                </a:solidFill>
              </a:rPr>
              <a:t>Inductive Spike Immunity
</a:t>
            </a:r>
            <a:r>
              <a:rPr sz="950">
                <a:solidFill>
                  <a:srgbClr val="EF4444"/>
                </a:solidFill>
              </a:rPr>
              <a:t>  ✕ ESP32: High reset rate from 230V lamp relay spikes
</a:t>
            </a:r>
            <a:r>
              <a:rPr sz="950">
                <a:solidFill>
                  <a:srgbClr val="10B981"/>
                </a:solidFill>
              </a:rPr>
              <a:t>  ✓ SynchroClear: 2,500V RMS Optocoupled DIN-Rail Isolation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8FAFC"/>
                </a:solidFill>
              </a:rPr>
              <a:t>Fail-Safe Supervisor
</a:t>
            </a:r>
            <a:r>
              <a:rPr sz="950">
                <a:solidFill>
                  <a:srgbClr val="EF4444"/>
                </a:solidFill>
              </a:rPr>
              <a:t>  ✕ ESP32: Basic software timer (hangs on memory leak)
</a:t>
            </a:r>
            <a:r>
              <a:rPr sz="950">
                <a:solidFill>
                  <a:srgbClr val="10B981"/>
                </a:solidFill>
              </a:rPr>
              <a:t>  ✓ SynchroClear: Independent Window Watchdog + Dual Clocks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8FAFC"/>
                </a:solidFill>
              </a:rPr>
              <a:t>Junction Hardware Cost
</a:t>
            </a:r>
            <a:r>
              <a:rPr sz="950">
                <a:solidFill>
                  <a:srgbClr val="EF4444"/>
                </a:solidFill>
              </a:rPr>
              <a:t>  ✕ ESP32: Rs 4,500 (Zero road safety certification)
</a:t>
            </a:r>
            <a:r>
              <a:rPr sz="950">
                <a:solidFill>
                  <a:srgbClr val="10B981"/>
                </a:solidFill>
              </a:rPr>
              <a:t>  ✓ SynchroClear: Rs 9,980 - 11,450 (Industrial grade, certified safe)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1371600"/>
            <a:ext cx="402336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ITEMIZED BOM PER JUNCTION (INR)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F8FAFC"/>
                </a:solidFill>
              </a:rPr>
              <a:t>STM32 Industrial RTU Board: </a:t>
            </a:r>
            <a:r>
              <a:rPr sz="1000" b="1">
                <a:solidFill>
                  <a:srgbClr val="34D399"/>
                </a:solidFill>
              </a:rPr>
              <a:t>Rs 3,850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F8FAFC"/>
                </a:solidFill>
              </a:rPr>
              <a:t>Semtech SX1262 Sub-GHz Module: </a:t>
            </a:r>
            <a:r>
              <a:rPr sz="1000" b="1">
                <a:solidFill>
                  <a:srgbClr val="34D399"/>
                </a:solidFill>
              </a:rPr>
              <a:t>Rs 1,450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F8FAFC"/>
                </a:solidFill>
              </a:rPr>
              <a:t>DIN-Rail Isolated Power Supply: </a:t>
            </a:r>
            <a:r>
              <a:rPr sz="1000" b="1">
                <a:solidFill>
                  <a:srgbClr val="34D399"/>
                </a:solidFill>
              </a:rPr>
              <a:t>Rs 1,280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F8FAFC"/>
                </a:solidFill>
              </a:rPr>
              <a:t>Optocoupled Form-C Relay Matrix: </a:t>
            </a:r>
            <a:r>
              <a:rPr sz="1000" b="1">
                <a:solidFill>
                  <a:srgbClr val="34D399"/>
                </a:solidFill>
              </a:rPr>
              <a:t>Rs 1,650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F8FAFC"/>
                </a:solidFill>
              </a:rPr>
              <a:t>Ruggedized Officer RF Wand: </a:t>
            </a:r>
            <a:r>
              <a:rPr sz="1000" b="1">
                <a:solidFill>
                  <a:srgbClr val="34D399"/>
                </a:solidFill>
              </a:rPr>
              <a:t>Rs 1,750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F8FAFC"/>
                </a:solidFill>
              </a:rPr>
              <a:t>Industrial Wiring Harness: </a:t>
            </a:r>
            <a:r>
              <a:rPr sz="1000" b="1">
                <a:solidFill>
                  <a:srgbClr val="34D399"/>
                </a:solidFill>
              </a:rPr>
              <a:t>Rs 1,470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F8FAFC"/>
                </a:solidFill>
              </a:rPr>
              <a:t>----------------------------------</a:t>
            </a:r>
            <a:r>
              <a:rPr sz="1000" b="1">
                <a:solidFill>
                  <a:srgbClr val="34D399"/>
                </a:solidFill>
              </a:rPr>
              <a:t>---------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</a:rPr>
              <a:t>TOTAL COST PER JUNCTION: </a:t>
            </a:r>
            <a:r>
              <a:rPr sz="1000" b="1">
                <a:solidFill>
                  <a:srgbClr val="06B6D4"/>
                </a:solidFill>
              </a:rPr>
              <a:t>Rs 11,450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8FAFC"/>
                </a:solidFill>
              </a:rPr>
              <a:t>BUDGET CEILING: </a:t>
            </a:r>
            <a:r>
              <a:rPr sz="1000" b="1">
                <a:solidFill>
                  <a:srgbClr val="34D399"/>
                </a:solidFill>
              </a:rPr>
              <a:t>&lt; Rs 12,000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PILOT ROADMAP &amp; GE ROAD MEKAHARA HOSPITAL LIFELINE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Raipur Police Commissionerate Deployment Plan: Jaistambh &amp; Ghadi Chowk 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PILOT CORRIDOR: GE ROAD TO MEKAHARA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8FAFC"/>
                </a:solidFill>
              </a:rPr>
              <a:t>Target Junction 01: Jaistambh Chowk
</a:t>
            </a:r>
            <a:r>
              <a:rPr sz="950">
                <a:solidFill>
                  <a:srgbClr val="94A3B8"/>
                </a:solidFill>
              </a:rPr>
              <a:t>Raipur's busiest 4-way commercial intersection. Lifeline feeder for ambulances coming from Tatibandh / West.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8FAFC"/>
                </a:solidFill>
              </a:rPr>
              <a:t>Target Junction 02: Ghadi Chowk
</a:t>
            </a:r>
            <a:r>
              <a:rPr sz="950">
                <a:solidFill>
                  <a:srgbClr val="94A3B8"/>
                </a:solidFill>
              </a:rPr>
              <a:t>Key administrative arterial hub connecting Raj Bhavan, High Court link, and Civil Lines.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8FAFC"/>
                </a:solidFill>
              </a:rPr>
              <a:t>Total Pilot Capex: Rs 22,900 INR
</a:t>
            </a:r>
            <a:r>
              <a:rPr sz="950">
                <a:solidFill>
                  <a:srgbClr val="94A3B8"/>
                </a:solidFill>
              </a:rPr>
              <a:t>Equips both high-density junctions within a modest hackathon budget (Rs 11,450 x 2).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F8FAFC"/>
                </a:solidFill>
              </a:rPr>
              <a:t>Rapid 7-Day Rollout Timeline: 
</a:t>
            </a:r>
            <a:r>
              <a:rPr sz="950">
                <a:solidFill>
                  <a:srgbClr val="94A3B8"/>
                </a:solidFill>
              </a:rPr>
              <a:t>
  • Day 1-2: Cabinet plug-and-play relay harness wiring.
  • Day 3-4: Smart City CCTV RTSP edge stream integration.
  • Day 5: 108 Emergency Ambulance dry-runs &amp; timing audit.
  • Day 6-7: Live operational handover to Raipur Traffic Police.</a:t>
            </a:r>
          </a:p>
        </p:txBody>
      </p:sp>
      <p:pic>
        <p:nvPicPr>
          <p:cNvPr id="6" name="Picture 5" descr="raipur_satellite_corridor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71600"/>
            <a:ext cx="5303520" cy="4937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